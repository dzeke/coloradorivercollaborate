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80888-39E1-E40E-9341-DA75DC97E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03021-734E-D9B1-B226-5C38A7891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0E94D-A385-2C2C-D900-1A096555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A81A-F2B2-F353-2A5C-C3C271EB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78542-A172-BF66-1847-C3BA003F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4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D5EC-6C50-7D40-BC0D-125097C0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1BD4-5909-2795-C1D5-5B3D5AF91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6BE3D-5F24-C772-579F-F92651CF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F851-4FE2-B97E-A4E0-A6B35AF3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A5D8B-1A9E-CAA5-4152-05AE2830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2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0FFB-1EBE-B194-15BB-230B63AF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D8147-392D-B5C8-BE2E-EE56523F5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4FA3B-CD52-7B18-0EA2-E071A1D4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333A-3406-6938-4622-B1B4B1C1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945F-F7D8-BE85-26CB-E31E5F4E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2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71D9-4E58-F6C2-B659-FFDD1117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1AE51-B0A2-19CD-BA54-4F59DF252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DFB0C-8E19-E88C-EB93-F1C357D9A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D52D6-12DB-0EB4-56AE-E66254B2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F979A-026E-72FD-766A-D8F13F14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BD8B4-5838-3540-1643-EFA4CAD1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8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E9C4-86BC-5511-ECF2-4EC0CF8C3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BC44D-A23B-E028-1E63-4E715F9F7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883CA-2A2E-CBEC-5372-048F9668D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F48EB-0A58-FA82-8FA4-0B8717CE8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53C22-7207-B057-DA2A-79C93553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734E5-3A33-E552-AB03-FCDCF918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0518F-8F00-A087-4B2A-96157CAF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F5415-07C7-05A8-3AEF-CA63A217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1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860D-0856-8943-7E65-235CD1C6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CE35E-05AC-72D4-9938-424DD733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C4FA7-16F1-13A5-01BB-34CA1E70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FD1E1-BC7B-F3CA-3B38-D0D5A1F3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7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8B65A-C9C0-B8DC-3190-AB5CA78C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A8DB8-1FF0-28E4-AF14-3BC7CE6D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DC404-7553-9BD0-C5ED-D90257DD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8C1B-5D11-AB0F-0D8B-29E77DD53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77B86-31A4-AEC9-72C0-0B16B2E0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0963F-E6C2-1C52-9BAF-29D498E35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10AB9-7125-A905-C364-345630F3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35651-9B14-FDB9-6C6A-362687F1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CBBC7-1B2B-2DA2-A07C-6ADD4FD3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4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F621-5350-0138-1921-92F8A4BD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8042-261A-E73E-51D4-6178E43E1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8BBD1-BD4C-6A19-8100-5AA8382C1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28AA-5E15-F456-E338-68882F8B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B0A9D-2E8B-6527-CD42-F0216D49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27B58-72C9-83D0-A33D-F58D3C8E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50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E831-2261-DEB0-F8F0-60400CFD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A2B13-3067-28A3-D6BA-68550B617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91F3F-C62F-BBCF-59C8-4E190133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8350B-A1EA-CDC4-8E75-67123687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46600-EEF8-2B42-64E3-47A1DEE4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5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B27C5-2CE4-828C-4EB6-C71E62C4A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6ACB3-8C28-131F-EC89-E2C594C99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B8595-1845-B968-04F0-AC110628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20F5-5DE0-A94C-A97B-DC608BD9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8D7B9-E89A-3063-4B89-85C95BE1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1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13AFB-32D6-7260-3B52-5854A1C8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7EF9E-FF62-A372-ABC2-9C753B313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28A0A-AFBC-7D51-1BEC-759BDABA0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6762C-DC55-4D65-AC8B-F990ED8BD500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C82B7-C593-7C86-C5B8-8E55F7C7C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C85C7-17EF-B0EB-5366-54571E899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2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3B82ED3-5008-5BC9-5FC7-1243A9BE2D3E}"/>
              </a:ext>
            </a:extLst>
          </p:cNvPr>
          <p:cNvSpPr/>
          <p:nvPr/>
        </p:nvSpPr>
        <p:spPr>
          <a:xfrm>
            <a:off x="7984808" y="3475342"/>
            <a:ext cx="2183130" cy="5749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CBC7D3CA-0731-B2D9-FA38-A91556566179}"/>
              </a:ext>
            </a:extLst>
          </p:cNvPr>
          <p:cNvSpPr/>
          <p:nvPr/>
        </p:nvSpPr>
        <p:spPr>
          <a:xfrm>
            <a:off x="10209134" y="2241211"/>
            <a:ext cx="342900" cy="1194732"/>
          </a:xfrm>
          <a:prstGeom prst="rightBrace">
            <a:avLst>
              <a:gd name="adj1" fmla="val 78333"/>
              <a:gd name="adj2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23D4E4-FAC7-42F8-6182-26BE74B55FF4}"/>
              </a:ext>
            </a:extLst>
          </p:cNvPr>
          <p:cNvGrpSpPr/>
          <p:nvPr/>
        </p:nvGrpSpPr>
        <p:grpSpPr>
          <a:xfrm>
            <a:off x="270271" y="444215"/>
            <a:ext cx="5671424" cy="6098919"/>
            <a:chOff x="521731" y="365461"/>
            <a:chExt cx="5671424" cy="609891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2DD574F-F3B5-8F71-EE5A-7416E88D421C}"/>
                </a:ext>
              </a:extLst>
            </p:cNvPr>
            <p:cNvSpPr/>
            <p:nvPr/>
          </p:nvSpPr>
          <p:spPr>
            <a:xfrm>
              <a:off x="2256234" y="2108535"/>
              <a:ext cx="2183130" cy="12344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388CAF-5C39-3EAB-E4AB-A515B8509525}"/>
                </a:ext>
              </a:extLst>
            </p:cNvPr>
            <p:cNvSpPr/>
            <p:nvPr/>
          </p:nvSpPr>
          <p:spPr>
            <a:xfrm>
              <a:off x="2256234" y="3303268"/>
              <a:ext cx="2183130" cy="20916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53FE29-A934-FA7B-A466-E8E4154338E6}"/>
                </a:ext>
              </a:extLst>
            </p:cNvPr>
            <p:cNvSpPr txBox="1"/>
            <p:nvPr/>
          </p:nvSpPr>
          <p:spPr>
            <a:xfrm>
              <a:off x="521731" y="1419124"/>
              <a:ext cx="19316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Total Legal Entitlements (</a:t>
              </a:r>
              <a:r>
                <a:rPr lang="en-US" sz="2000" b="1" dirty="0" err="1"/>
                <a:t>E</a:t>
              </a:r>
              <a:r>
                <a:rPr lang="en-US" sz="2000" b="1" baseline="-25000" dirty="0" err="1"/>
                <a:t>Total</a:t>
              </a:r>
              <a:r>
                <a:rPr lang="en-US" sz="2000" b="1" dirty="0"/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B382EE-B3C4-1DAC-B9D2-0492F8ED1F20}"/>
                </a:ext>
              </a:extLst>
            </p:cNvPr>
            <p:cNvSpPr txBox="1"/>
            <p:nvPr/>
          </p:nvSpPr>
          <p:spPr>
            <a:xfrm>
              <a:off x="4619623" y="2133716"/>
              <a:ext cx="15735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Total Shortage (</a:t>
              </a:r>
              <a:r>
                <a:rPr 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M</a:t>
              </a:r>
              <a:r>
                <a:rPr lang="en-US" sz="20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5FD13C-2F64-5687-7C2C-090A8B7CC50E}"/>
                </a:ext>
              </a:extLst>
            </p:cNvPr>
            <p:cNvSpPr txBox="1"/>
            <p:nvPr/>
          </p:nvSpPr>
          <p:spPr>
            <a:xfrm>
              <a:off x="2381964" y="3578137"/>
              <a:ext cx="193167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Total Consumption +  </a:t>
              </a:r>
            </a:p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Total Credits</a:t>
              </a:r>
            </a:p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(</a:t>
              </a:r>
              <a:r>
                <a:rPr lang="en-US" sz="2000" b="1" dirty="0" err="1">
                  <a:solidFill>
                    <a:srgbClr val="7030A0"/>
                  </a:solidFill>
                </a:rPr>
                <a:t>D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+ </a:t>
              </a:r>
              <a:r>
                <a:rPr lang="en-US" sz="2000" b="1" dirty="0" err="1">
                  <a:solidFill>
                    <a:srgbClr val="7030A0"/>
                  </a:solidFill>
                </a:rPr>
                <a:t>A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 )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70D88E4-5A26-8291-0C40-EDAB5081D189}"/>
                </a:ext>
              </a:extLst>
            </p:cNvPr>
            <p:cNvCxnSpPr>
              <a:cxnSpLocks/>
            </p:cNvCxnSpPr>
            <p:nvPr/>
          </p:nvCxnSpPr>
          <p:spPr>
            <a:xfrm>
              <a:off x="2256234" y="2978231"/>
              <a:ext cx="2183130" cy="0"/>
            </a:xfrm>
            <a:prstGeom prst="line">
              <a:avLst/>
            </a:prstGeom>
            <a:ln w="57150">
              <a:solidFill>
                <a:srgbClr val="0000FF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0DC0F3-B536-9490-87D3-2F599ECE2587}"/>
                </a:ext>
              </a:extLst>
            </p:cNvPr>
            <p:cNvSpPr txBox="1"/>
            <p:nvPr/>
          </p:nvSpPr>
          <p:spPr>
            <a:xfrm>
              <a:off x="718899" y="2664273"/>
              <a:ext cx="153733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Physical available water</a:t>
              </a:r>
            </a:p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(</a:t>
              </a:r>
              <a:r>
                <a:rPr lang="en-US" sz="2000" b="1" dirty="0" err="1">
                  <a:solidFill>
                    <a:srgbClr val="0000FF"/>
                  </a:solidFill>
                </a:rPr>
                <a:t>Q</a:t>
              </a:r>
              <a:r>
                <a:rPr lang="en-US" sz="20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000" b="1" dirty="0">
                  <a:solidFill>
                    <a:srgbClr val="0000FF"/>
                  </a:solidFill>
                </a:rPr>
                <a:t>)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49D229FA-0A5C-EC09-2842-23CB8A1D32D9}"/>
                </a:ext>
              </a:extLst>
            </p:cNvPr>
            <p:cNvSpPr/>
            <p:nvPr/>
          </p:nvSpPr>
          <p:spPr>
            <a:xfrm>
              <a:off x="4480560" y="2108535"/>
              <a:ext cx="342900" cy="1194732"/>
            </a:xfrm>
            <a:prstGeom prst="rightBrace">
              <a:avLst>
                <a:gd name="adj1" fmla="val 78333"/>
                <a:gd name="adj2" fmla="val 50000"/>
              </a:avLst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BE9753-F84B-630E-20DD-440866A92577}"/>
                </a:ext>
              </a:extLst>
            </p:cNvPr>
            <p:cNvSpPr txBox="1"/>
            <p:nvPr/>
          </p:nvSpPr>
          <p:spPr>
            <a:xfrm>
              <a:off x="1270635" y="365461"/>
              <a:ext cx="4266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1. Assumption Valid</a:t>
              </a:r>
            </a:p>
            <a:p>
              <a:pPr algn="ctr"/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400" b="1" dirty="0"/>
                <a:t> ≥ </a:t>
              </a:r>
              <a:r>
                <a:rPr lang="en-US" sz="2400" b="1" dirty="0" err="1"/>
                <a:t>E</a:t>
              </a:r>
              <a:r>
                <a:rPr lang="en-US" sz="2400" b="1" baseline="-25000" dirty="0" err="1"/>
                <a:t>Total</a:t>
              </a:r>
              <a:r>
                <a:rPr lang="en-US" sz="2400" b="1" dirty="0"/>
                <a:t> – </a:t>
              </a:r>
              <a:r>
                <a:rPr lang="en-US" sz="2400" b="1" dirty="0" err="1">
                  <a:solidFill>
                    <a:schemeClr val="accent2">
                      <a:lumMod val="75000"/>
                    </a:schemeClr>
                  </a:solidFill>
                </a:rPr>
                <a:t>M</a:t>
              </a:r>
              <a:r>
                <a:rPr lang="en-US" sz="24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endParaRPr lang="en-US" sz="2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F9BA5DF-4140-698A-5325-4E2E18CFF361}"/>
                </a:ext>
              </a:extLst>
            </p:cNvPr>
            <p:cNvSpPr txBox="1"/>
            <p:nvPr/>
          </p:nvSpPr>
          <p:spPr>
            <a:xfrm>
              <a:off x="1560909" y="5149453"/>
              <a:ext cx="821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E05BD7-3674-E8F5-1015-209BCEA0FEBB}"/>
                </a:ext>
              </a:extLst>
            </p:cNvPr>
            <p:cNvSpPr txBox="1"/>
            <p:nvPr/>
          </p:nvSpPr>
          <p:spPr>
            <a:xfrm>
              <a:off x="966787" y="5633383"/>
              <a:ext cx="47620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Use Existing Formula (Eq. 3)</a:t>
              </a:r>
            </a:p>
            <a:p>
              <a:pPr algn="ctr"/>
              <a:r>
                <a:rPr lang="en-US" sz="2400" b="1" dirty="0" err="1">
                  <a:solidFill>
                    <a:srgbClr val="7030A0"/>
                  </a:solidFill>
                </a:rPr>
                <a:t>A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>
                  <a:solidFill>
                    <a:srgbClr val="7030A0"/>
                  </a:solidFill>
                </a:rPr>
                <a:t> </a:t>
              </a:r>
              <a:r>
                <a:rPr lang="en-US" sz="2400" b="1" dirty="0"/>
                <a:t>= max(</a:t>
              </a:r>
              <a:r>
                <a:rPr lang="en-US" sz="2400" b="1" dirty="0" err="1"/>
                <a:t>E</a:t>
              </a:r>
              <a:r>
                <a:rPr lang="en-US" sz="2400" b="1" baseline="-25000" dirty="0" err="1"/>
                <a:t>Total</a:t>
              </a:r>
              <a:r>
                <a:rPr lang="en-US" sz="2400" b="1" dirty="0"/>
                <a:t> – </a:t>
              </a:r>
              <a:r>
                <a:rPr lang="en-US" sz="2400" b="1" dirty="0" err="1">
                  <a:solidFill>
                    <a:schemeClr val="accent2">
                      <a:lumMod val="75000"/>
                    </a:schemeClr>
                  </a:solidFill>
                </a:rPr>
                <a:t>M</a:t>
              </a:r>
              <a:r>
                <a:rPr lang="en-US" sz="24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US" sz="2400" b="1" dirty="0"/>
                <a:t>– </a:t>
              </a:r>
              <a:r>
                <a:rPr lang="en-US" sz="2400" b="1" dirty="0" err="1">
                  <a:solidFill>
                    <a:srgbClr val="7030A0"/>
                  </a:solidFill>
                </a:rPr>
                <a:t>D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/>
                <a:t>, 0)</a:t>
              </a:r>
              <a:endParaRPr lang="en-US" sz="2400" b="1" baseline="-250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DEF4E34-0FF7-F1A2-93C1-55E914122DF6}"/>
              </a:ext>
            </a:extLst>
          </p:cNvPr>
          <p:cNvGrpSpPr/>
          <p:nvPr/>
        </p:nvGrpSpPr>
        <p:grpSpPr>
          <a:xfrm>
            <a:off x="6250305" y="460833"/>
            <a:ext cx="5671424" cy="6445336"/>
            <a:chOff x="6250305" y="508458"/>
            <a:chExt cx="5671424" cy="644533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FE16A8C-83E8-A87A-B278-CEFEC28C3436}"/>
                </a:ext>
              </a:extLst>
            </p:cNvPr>
            <p:cNvSpPr/>
            <p:nvPr/>
          </p:nvSpPr>
          <p:spPr>
            <a:xfrm>
              <a:off x="7984808" y="2241211"/>
              <a:ext cx="2183130" cy="12344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AC07449-7911-8EB5-73B9-B66731DCA9D3}"/>
                </a:ext>
              </a:extLst>
            </p:cNvPr>
            <p:cNvSpPr/>
            <p:nvPr/>
          </p:nvSpPr>
          <p:spPr>
            <a:xfrm>
              <a:off x="7984808" y="4036568"/>
              <a:ext cx="2183130" cy="149106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895D6D-746F-2C42-97F3-C8D30E498DBD}"/>
                </a:ext>
              </a:extLst>
            </p:cNvPr>
            <p:cNvSpPr txBox="1"/>
            <p:nvPr/>
          </p:nvSpPr>
          <p:spPr>
            <a:xfrm>
              <a:off x="6250305" y="1551800"/>
              <a:ext cx="19316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Total Legal Entitlements (</a:t>
              </a:r>
              <a:r>
                <a:rPr lang="en-US" sz="2000" b="1" dirty="0" err="1"/>
                <a:t>E</a:t>
              </a:r>
              <a:r>
                <a:rPr lang="en-US" sz="2000" b="1" baseline="-25000" dirty="0" err="1"/>
                <a:t>Total</a:t>
              </a:r>
              <a:r>
                <a:rPr lang="en-US" sz="2000" b="1" dirty="0"/>
                <a:t>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B7436A-9259-D1D0-342F-BC46C80B48D6}"/>
                </a:ext>
              </a:extLst>
            </p:cNvPr>
            <p:cNvSpPr txBox="1"/>
            <p:nvPr/>
          </p:nvSpPr>
          <p:spPr>
            <a:xfrm>
              <a:off x="10348197" y="2266392"/>
              <a:ext cx="15735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Total Shortage (</a:t>
              </a:r>
              <a:r>
                <a:rPr 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M</a:t>
              </a:r>
              <a:r>
                <a:rPr lang="en-US" sz="20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32020F-906C-CEDA-51E3-73C3CD0D5605}"/>
                </a:ext>
              </a:extLst>
            </p:cNvPr>
            <p:cNvSpPr txBox="1"/>
            <p:nvPr/>
          </p:nvSpPr>
          <p:spPr>
            <a:xfrm>
              <a:off x="8110538" y="4183559"/>
              <a:ext cx="193167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Total Consumption +  Total Credits</a:t>
              </a:r>
            </a:p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(</a:t>
              </a:r>
              <a:r>
                <a:rPr lang="en-US" sz="2000" b="1" dirty="0" err="1">
                  <a:solidFill>
                    <a:srgbClr val="7030A0"/>
                  </a:solidFill>
                </a:rPr>
                <a:t>D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+ </a:t>
              </a:r>
              <a:r>
                <a:rPr lang="en-US" sz="2000" b="1" dirty="0" err="1">
                  <a:solidFill>
                    <a:srgbClr val="7030A0"/>
                  </a:solidFill>
                </a:rPr>
                <a:t>A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 )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EDF3094-F14B-EA44-6DD5-7D0FC8EA24A8}"/>
                </a:ext>
              </a:extLst>
            </p:cNvPr>
            <p:cNvCxnSpPr>
              <a:cxnSpLocks/>
            </p:cNvCxnSpPr>
            <p:nvPr/>
          </p:nvCxnSpPr>
          <p:spPr>
            <a:xfrm>
              <a:off x="7984808" y="4013708"/>
              <a:ext cx="2183130" cy="25188"/>
            </a:xfrm>
            <a:prstGeom prst="line">
              <a:avLst/>
            </a:prstGeom>
            <a:ln w="57150">
              <a:solidFill>
                <a:srgbClr val="0000FF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F3489E-8070-1F06-7E8B-F4E8AD6D2737}"/>
                </a:ext>
              </a:extLst>
            </p:cNvPr>
            <p:cNvSpPr txBox="1"/>
            <p:nvPr/>
          </p:nvSpPr>
          <p:spPr>
            <a:xfrm>
              <a:off x="6341746" y="3774555"/>
              <a:ext cx="153733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Physical available water</a:t>
              </a:r>
            </a:p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(</a:t>
              </a:r>
              <a:r>
                <a:rPr lang="en-US" sz="2000" b="1" dirty="0" err="1">
                  <a:solidFill>
                    <a:srgbClr val="0000FF"/>
                  </a:solidFill>
                </a:rPr>
                <a:t>Q</a:t>
              </a:r>
              <a:r>
                <a:rPr lang="en-US" sz="20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000" b="1" dirty="0">
                  <a:solidFill>
                    <a:srgbClr val="0000FF"/>
                  </a:solidFill>
                </a:rPr>
                <a:t>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74A299-1851-7B9C-9DC7-83256A963221}"/>
                </a:ext>
              </a:extLst>
            </p:cNvPr>
            <p:cNvSpPr txBox="1"/>
            <p:nvPr/>
          </p:nvSpPr>
          <p:spPr>
            <a:xfrm>
              <a:off x="6906577" y="508458"/>
              <a:ext cx="4266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2. Assumption Invalid</a:t>
              </a:r>
            </a:p>
            <a:p>
              <a:pPr algn="ctr"/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400" b="1" dirty="0"/>
                <a:t> &lt; </a:t>
              </a:r>
              <a:r>
                <a:rPr lang="en-US" sz="2400" b="1" dirty="0" err="1"/>
                <a:t>E</a:t>
              </a:r>
              <a:r>
                <a:rPr lang="en-US" sz="2400" b="1" baseline="-25000" dirty="0" err="1"/>
                <a:t>Total</a:t>
              </a:r>
              <a:r>
                <a:rPr lang="en-US" sz="2400" b="1" dirty="0"/>
                <a:t> – </a:t>
              </a:r>
              <a:r>
                <a:rPr lang="en-US" sz="2400" b="1" dirty="0" err="1">
                  <a:solidFill>
                    <a:schemeClr val="accent2">
                      <a:lumMod val="75000"/>
                    </a:schemeClr>
                  </a:solidFill>
                </a:rPr>
                <a:t>M</a:t>
              </a:r>
              <a:r>
                <a:rPr lang="en-US" sz="24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endParaRPr lang="en-US" sz="2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778581-FB8E-0E87-6660-07211EDD6F6F}"/>
                </a:ext>
              </a:extLst>
            </p:cNvPr>
            <p:cNvSpPr txBox="1"/>
            <p:nvPr/>
          </p:nvSpPr>
          <p:spPr>
            <a:xfrm>
              <a:off x="7289483" y="5282129"/>
              <a:ext cx="821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3CEF61-CACE-BB0E-0D2B-CB22CDD89F4E}"/>
                </a:ext>
              </a:extLst>
            </p:cNvPr>
            <p:cNvSpPr txBox="1"/>
            <p:nvPr/>
          </p:nvSpPr>
          <p:spPr>
            <a:xfrm>
              <a:off x="6943249" y="5753465"/>
              <a:ext cx="42662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Use New Formula (Eq. 4)</a:t>
              </a:r>
            </a:p>
            <a:p>
              <a:pPr algn="ctr"/>
              <a:r>
                <a:rPr lang="en-US" sz="2400" b="1" dirty="0" err="1">
                  <a:solidFill>
                    <a:srgbClr val="7030A0"/>
                  </a:solidFill>
                </a:rPr>
                <a:t>A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>
                  <a:solidFill>
                    <a:srgbClr val="7030A0"/>
                  </a:solidFill>
                </a:rPr>
                <a:t> + </a:t>
              </a:r>
              <a:r>
                <a:rPr lang="en-US" sz="2400" b="1" dirty="0" err="1">
                  <a:solidFill>
                    <a:srgbClr val="7030A0"/>
                  </a:solidFill>
                </a:rPr>
                <a:t>D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 </a:t>
              </a:r>
              <a:r>
                <a:rPr lang="en-US" sz="2400" b="1" dirty="0"/>
                <a:t>&lt; </a:t>
              </a:r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endParaRPr lang="en-US" sz="2400" b="1" dirty="0"/>
            </a:p>
            <a:p>
              <a:pPr algn="ctr"/>
              <a:r>
                <a:rPr lang="en-US" sz="2400" b="1" dirty="0" err="1">
                  <a:solidFill>
                    <a:srgbClr val="7030A0"/>
                  </a:solidFill>
                </a:rPr>
                <a:t>A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>
                  <a:solidFill>
                    <a:srgbClr val="7030A0"/>
                  </a:solidFill>
                </a:rPr>
                <a:t> </a:t>
              </a:r>
              <a:r>
                <a:rPr lang="en-US" sz="2400" b="1" dirty="0"/>
                <a:t>= max(</a:t>
              </a:r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4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sz="2400" b="1" dirty="0">
                  <a:solidFill>
                    <a:srgbClr val="0000FF"/>
                  </a:solidFill>
                </a:rPr>
                <a:t>– </a:t>
              </a:r>
              <a:r>
                <a:rPr lang="en-US" sz="2400" b="1" dirty="0" err="1">
                  <a:solidFill>
                    <a:srgbClr val="7030A0"/>
                  </a:solidFill>
                </a:rPr>
                <a:t>D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/>
                <a:t>, 0)</a:t>
              </a:r>
              <a:endParaRPr lang="en-US" sz="2400" b="1" baseline="-25000" dirty="0"/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D2078FE5-48C8-7D21-F628-3A92E02B8BE5}"/>
                </a:ext>
              </a:extLst>
            </p:cNvPr>
            <p:cNvSpPr/>
            <p:nvPr/>
          </p:nvSpPr>
          <p:spPr>
            <a:xfrm>
              <a:off x="10209134" y="3495739"/>
              <a:ext cx="342900" cy="554587"/>
            </a:xfrm>
            <a:prstGeom prst="rightBrace">
              <a:avLst>
                <a:gd name="adj1" fmla="val 78333"/>
                <a:gd name="adj2" fmla="val 50000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75EC2BD-073D-BD06-1426-825D14FC089A}"/>
                </a:ext>
              </a:extLst>
            </p:cNvPr>
            <p:cNvSpPr txBox="1"/>
            <p:nvPr/>
          </p:nvSpPr>
          <p:spPr>
            <a:xfrm>
              <a:off x="10348197" y="3572977"/>
              <a:ext cx="15735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Gap</a:t>
              </a: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310A89C-ABF2-6C4D-7905-929264EF408D}"/>
              </a:ext>
            </a:extLst>
          </p:cNvPr>
          <p:cNvCxnSpPr>
            <a:cxnSpLocks/>
          </p:cNvCxnSpPr>
          <p:nvPr/>
        </p:nvCxnSpPr>
        <p:spPr>
          <a:xfrm>
            <a:off x="5998845" y="571500"/>
            <a:ext cx="0" cy="6286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43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118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Rosenberg</dc:creator>
  <cp:lastModifiedBy>David Rosenberg</cp:lastModifiedBy>
  <cp:revision>7</cp:revision>
  <dcterms:created xsi:type="dcterms:W3CDTF">2026-03-03T01:43:42Z</dcterms:created>
  <dcterms:modified xsi:type="dcterms:W3CDTF">2026-07-09T21:25:55Z</dcterms:modified>
</cp:coreProperties>
</file>